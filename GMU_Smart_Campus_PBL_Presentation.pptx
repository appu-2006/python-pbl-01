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5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49640" y="822960"/>
            <a:ext cx="164592" cy="16459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141732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0" y="2194560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0" y="2926080"/>
            <a:ext cx="146304" cy="14630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58200" y="3749039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0" y="4800600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631936" y="914400"/>
            <a:ext cx="950976" cy="1371600"/>
          </a:xfrm>
          <a:prstGeom prst="line">
            <a:avLst/>
          </a:prstGeom>
          <a:ln w="1524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601200" y="1481328"/>
            <a:ext cx="1261872" cy="804672"/>
          </a:xfrm>
          <a:prstGeom prst="line">
            <a:avLst/>
          </a:prstGeom>
          <a:ln w="1524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601200" y="2286000"/>
            <a:ext cx="1627632" cy="731520"/>
          </a:xfrm>
          <a:prstGeom prst="line">
            <a:avLst/>
          </a:prstGeom>
          <a:ln w="1524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522208" y="2286000"/>
            <a:ext cx="1078992" cy="1554480"/>
          </a:xfrm>
          <a:prstGeom prst="line">
            <a:avLst/>
          </a:prstGeom>
          <a:ln w="1524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522208" y="3840480"/>
            <a:ext cx="1719072" cy="1051560"/>
          </a:xfrm>
          <a:prstGeom prst="line">
            <a:avLst/>
          </a:prstGeom>
          <a:ln w="1524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241280" y="3017520"/>
            <a:ext cx="987552" cy="1874520"/>
          </a:xfrm>
          <a:prstGeom prst="line">
            <a:avLst/>
          </a:prstGeom>
          <a:ln w="1524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366760" y="3246120"/>
            <a:ext cx="306324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59368" y="2743200"/>
            <a:ext cx="2468880" cy="512064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759952" y="3429000"/>
            <a:ext cx="292608" cy="329184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0" y="3429000"/>
            <a:ext cx="292608" cy="329184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893808" y="3429000"/>
            <a:ext cx="292608" cy="329184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460736" y="3429000"/>
            <a:ext cx="292608" cy="329184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92640" y="3703320"/>
            <a:ext cx="384048" cy="548640"/>
          </a:xfrm>
          <a:prstGeom prst="roundRect">
            <a:avLst>
              <a:gd name="adj" fmla="val 12000"/>
            </a:avLst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6692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3C5FD"/>
                </a:solidFill>
                <a:latin typeface="Aptos"/>
              </a:rPr>
              <a:t>GM UNIVERSITY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1170432"/>
            <a:ext cx="69494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AI-Enabled Smart Campus
Monitoring and Intelligent
Student Support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172968"/>
            <a:ext cx="6126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BAE6FD"/>
                </a:solidFill>
                <a:latin typeface="Aptos"/>
              </a:rPr>
              <a:t>Using Python, NLP and Data Analytics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858768"/>
            <a:ext cx="516636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096512"/>
            <a:ext cx="6126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BCA  •  Semester 3  •  Course Code UC25CA2302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57200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C4B5FD"/>
                </a:solidFill>
                <a:latin typeface="Aptos"/>
              </a:rPr>
              <a:t>ACADEMIC PBL PROJECT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956048"/>
            <a:ext cx="6035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2E8F0"/>
                </a:solidFill>
                <a:latin typeface="Aptos"/>
              </a:rPr>
              <a:t>Team members: [Add names]     USNs: [Add USNs]
Faculty guide: [Add name]     Academic year: [Add year]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6537960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CBD5E1"/>
                </a:solidFill>
                <a:latin typeface="Aptos"/>
              </a:rPr>
              <a:t>GM UNIVERSITY  •  BCA  •  UC25CA2302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1672" y="6510528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CBD5E1"/>
                </a:solidFill>
                <a:latin typeface="Aptos"/>
              </a:rPr>
              <a:t>01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ptos"/>
              </a:rPr>
              <a:t>SMART CAMPUS PBL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554"/>
                </a:solidFill>
                <a:latin typeface="Aptos"/>
              </a:rP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61288"/>
            <a:ext cx="658368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GM UNIVERSITY  •  BCA  •  UC25CA2302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10528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Aptos"/>
              </a:rPr>
              <a:t>02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35608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E293B"/>
                </a:solidFill>
                <a:latin typeface="Aptos"/>
              </a:rPr>
              <a:t>A Python-based concept for bringing campus information together and helping staff review student support needs.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2286000" cy="429768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64008" cy="42976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185416"/>
            <a:ext cx="2103120" cy="356615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72554"/>
                </a:solidFill>
                <a:latin typeface="Aptos"/>
              </a:rPr>
              <a:t>Student records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90672" y="2368296"/>
            <a:ext cx="1892808" cy="1243584"/>
          </a:xfrm>
          <a:prstGeom prst="line">
            <a:avLst/>
          </a:prstGeom>
          <a:ln w="1778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1520" y="2807208"/>
            <a:ext cx="2286000" cy="429768"/>
          </a:xfrm>
          <a:prstGeom prst="roundRect">
            <a:avLst>
              <a:gd name="adj" fmla="val 12000"/>
            </a:avLst>
          </a:prstGeom>
          <a:solidFill>
            <a:srgbClr val="CF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2807208"/>
            <a:ext cx="64008" cy="429768"/>
          </a:xfrm>
          <a:prstGeom prst="roundRect">
            <a:avLst>
              <a:gd name="adj" fmla="val 12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843784"/>
            <a:ext cx="2103120" cy="356615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72554"/>
                </a:solidFill>
                <a:latin typeface="Aptos"/>
              </a:rPr>
              <a:t>Attendance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90672" y="3026664"/>
            <a:ext cx="1892808" cy="585216"/>
          </a:xfrm>
          <a:prstGeom prst="line">
            <a:avLst/>
          </a:prstGeom>
          <a:ln w="1778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1520" y="3465576"/>
            <a:ext cx="2286000" cy="429768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465576"/>
            <a:ext cx="64008" cy="429768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3502152"/>
            <a:ext cx="2103120" cy="356615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72554"/>
                </a:solidFill>
                <a:latin typeface="Aptos"/>
              </a:rPr>
              <a:t>Marks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3090672" y="3611880"/>
            <a:ext cx="1892808" cy="73152"/>
          </a:xfrm>
          <a:prstGeom prst="line">
            <a:avLst/>
          </a:prstGeom>
          <a:ln w="1778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1520" y="4123944"/>
            <a:ext cx="2286000" cy="429768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4123944"/>
            <a:ext cx="64008" cy="429768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160520"/>
            <a:ext cx="2103120" cy="356615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72554"/>
                </a:solidFill>
                <a:latin typeface="Aptos"/>
              </a:rPr>
              <a:t>Feedback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3090672" y="3611880"/>
            <a:ext cx="1892808" cy="731520"/>
          </a:xfrm>
          <a:prstGeom prst="line">
            <a:avLst/>
          </a:prstGeom>
          <a:ln w="1778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1520" y="4782312"/>
            <a:ext cx="2286000" cy="429768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1520" y="4782312"/>
            <a:ext cx="64008" cy="429768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4818888"/>
            <a:ext cx="2103120" cy="356615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72554"/>
                </a:solidFill>
                <a:latin typeface="Aptos"/>
              </a:rPr>
              <a:t>Campus observations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3090672" y="3611880"/>
            <a:ext cx="1892808" cy="1389888"/>
          </a:xfrm>
          <a:prstGeom prst="line">
            <a:avLst/>
          </a:prstGeom>
          <a:ln w="1778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010912" y="2834640"/>
            <a:ext cx="2331720" cy="1417320"/>
          </a:xfrm>
          <a:prstGeom prst="roundRect">
            <a:avLst>
              <a:gd name="adj" fmla="val 12000"/>
            </a:avLst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3154680"/>
            <a:ext cx="192024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SMART CAMPUS
SYSTEM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360920" y="3538728"/>
            <a:ext cx="86868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366760" y="2331720"/>
            <a:ext cx="2926080" cy="59436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366760" y="2331720"/>
            <a:ext cx="64008" cy="59436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85632" y="2368296"/>
            <a:ext cx="2743200" cy="5212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72554"/>
                </a:solidFill>
                <a:latin typeface="Aptos"/>
              </a:rPr>
              <a:t>Analyse information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66760" y="3246120"/>
            <a:ext cx="2926080" cy="59436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366760" y="3246120"/>
            <a:ext cx="64008" cy="594360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85632" y="3282696"/>
            <a:ext cx="2743200" cy="5212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72554"/>
                </a:solidFill>
                <a:latin typeface="Aptos"/>
              </a:rPr>
              <a:t>Suggest support actions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66760" y="4160520"/>
            <a:ext cx="2926080" cy="59436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366760" y="4160520"/>
            <a:ext cx="64008" cy="59436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85632" y="4197096"/>
            <a:ext cx="2743200" cy="5212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72554"/>
                </a:solidFill>
                <a:latin typeface="Aptos"/>
              </a:rPr>
              <a:t>Create reports for review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5074920"/>
            <a:ext cx="6675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64748B"/>
                </a:solidFill>
                <a:latin typeface="Aptos"/>
              </a:rPr>
              <a:t>Decision support for staff — not an automated decision-maker.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ptos"/>
              </a:rPr>
              <a:t>SMART CAMPUS PBL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554"/>
                </a:solidFill>
                <a:latin typeface="Aptos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61288"/>
            <a:ext cx="658368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GM UNIVERSITY  •  BCA  •  UC25CA2302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10528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Aptos"/>
              </a:rPr>
              <a:t>03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4748B"/>
                </a:solidFill>
                <a:latin typeface="Aptos"/>
              </a:rPr>
              <a:t>Project problem areas to address — not verified findings about GM University.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56816"/>
            <a:ext cx="512064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1956816"/>
            <a:ext cx="5120640" cy="3474720"/>
          </a:xfrm>
          <a:prstGeom prst="roundRect">
            <a:avLst>
              <a:gd name="adj" fmla="val 12000"/>
            </a:avLst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2194560"/>
            <a:ext cx="2240280" cy="292608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2217420"/>
            <a:ext cx="209397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SEPARATE / MANUAL 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70048"/>
            <a:ext cx="44805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72554"/>
                </a:solidFill>
                <a:latin typeface="Aptos"/>
              </a:rPr>
              <a:t>Records may sit in separate places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218688"/>
            <a:ext cx="4480560" cy="1828800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 Attendance and marks need regular monitoring.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 Feedback and concerns need systematic review.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 Repeated concerns can be difficult to spot manually.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 Staff need timely, useful information.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56832" y="2194560"/>
            <a:ext cx="2286000" cy="292608"/>
          </a:xfrm>
          <a:prstGeom prst="roundRect">
            <a:avLst>
              <a:gd name="adj" fmla="val 12000"/>
            </a:avLst>
          </a:prstGeom>
          <a:solidFill>
            <a:srgbClr val="CF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9984" y="2217420"/>
            <a:ext cx="213969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6B6D4"/>
                </a:solidFill>
                <a:latin typeface="Aptos"/>
              </a:rPr>
              <a:t>PROPOSED INTEGRATED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670048"/>
            <a:ext cx="44805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One organised review workflow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3401568"/>
            <a:ext cx="1828800" cy="512064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20840" y="3401568"/>
            <a:ext cx="64008" cy="512064"/>
          </a:xfrm>
          <a:prstGeom prst="roundRect">
            <a:avLst>
              <a:gd name="adj" fmla="val 12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9712" y="34381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72554"/>
                </a:solidFill>
                <a:latin typeface="Aptos"/>
              </a:rPr>
              <a:t>Collect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3401568"/>
            <a:ext cx="1828800" cy="512064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15400" y="3401568"/>
            <a:ext cx="64008" cy="512064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34272" y="34381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72554"/>
                </a:solidFill>
                <a:latin typeface="Aptos"/>
              </a:rPr>
              <a:t>Organise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4315968"/>
            <a:ext cx="1828800" cy="512064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720840" y="4315968"/>
            <a:ext cx="64008" cy="512064"/>
          </a:xfrm>
          <a:prstGeom prst="roundRect">
            <a:avLst>
              <a:gd name="adj" fmla="val 12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9712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72554"/>
                </a:solidFill>
                <a:latin typeface="Aptos"/>
              </a:rPr>
              <a:t>Analyse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15400" y="4315968"/>
            <a:ext cx="1828800" cy="512064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15400" y="4315968"/>
            <a:ext cx="64008" cy="512064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4272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72554"/>
                </a:solidFill>
                <a:latin typeface="Aptos"/>
              </a:rPr>
              <a:t>Review &amp; support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5166360"/>
            <a:ext cx="4389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BD5E1"/>
                </a:solidFill>
                <a:latin typeface="Aptos"/>
              </a:rPr>
              <a:t>Better visibility while keeping staff in the loop.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ptos"/>
              </a:rPr>
              <a:t>SMART CAMPUS PBL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554"/>
                </a:solidFill>
                <a:latin typeface="Aptos"/>
              </a:rPr>
              <a:t>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61288"/>
            <a:ext cx="658368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GM UNIVERSITY  •  BCA  •  UC25CA2302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10528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Aptos"/>
              </a:rPr>
              <a:t>04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265176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600200"/>
            <a:ext cx="73152" cy="157276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746504"/>
            <a:ext cx="2286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554"/>
                </a:solidFill>
                <a:latin typeface="Aptos"/>
              </a:rPr>
              <a:t>Python fundamentals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157984"/>
            <a:ext cx="2267712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93B"/>
                </a:solidFill>
                <a:latin typeface="Aptos"/>
              </a:rPr>
              <a:t>Apply core syntax and programming concepts.</a:t>
            </a:r>
          </a:p>
        </p:txBody>
      </p:sp>
      <p:sp>
        <p:nvSpPr>
          <p:cNvPr id="12" name="Oval 11"/>
          <p:cNvSpPr/>
          <p:nvPr/>
        </p:nvSpPr>
        <p:spPr>
          <a:xfrm>
            <a:off x="2743200" y="1691640"/>
            <a:ext cx="347472" cy="3474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1773936"/>
            <a:ext cx="3474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ptos"/>
              </a:rPr>
              <a:t>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1600200"/>
            <a:ext cx="265176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74720" y="1600200"/>
            <a:ext cx="73152" cy="1572768"/>
          </a:xfrm>
          <a:prstGeom prst="roundRect">
            <a:avLst>
              <a:gd name="adj" fmla="val 12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7" y="1746504"/>
            <a:ext cx="2286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554"/>
                </a:solidFill>
                <a:latin typeface="Aptos"/>
              </a:rPr>
              <a:t>Control structures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7" y="2157984"/>
            <a:ext cx="2267712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93B"/>
                </a:solidFill>
                <a:latin typeface="Aptos"/>
              </a:rPr>
              <a:t>Use decisions and loops for rules and alerts.</a:t>
            </a:r>
          </a:p>
        </p:txBody>
      </p:sp>
      <p:sp>
        <p:nvSpPr>
          <p:cNvPr id="18" name="Oval 17"/>
          <p:cNvSpPr/>
          <p:nvPr/>
        </p:nvSpPr>
        <p:spPr>
          <a:xfrm>
            <a:off x="5623560" y="1691640"/>
            <a:ext cx="347472" cy="347472"/>
          </a:xfrm>
          <a:prstGeom prst="ellipse">
            <a:avLst/>
          </a:prstGeom>
          <a:solidFill>
            <a:srgbClr val="CF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23560" y="1773936"/>
            <a:ext cx="3474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6B6D4"/>
                </a:solidFill>
                <a:latin typeface="Aptos"/>
              </a:rPr>
              <a:t>02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600200"/>
            <a:ext cx="265176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55080" y="1600200"/>
            <a:ext cx="73152" cy="1572768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1746504"/>
            <a:ext cx="2286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554"/>
                </a:solidFill>
                <a:latin typeface="Aptos"/>
              </a:rPr>
              <a:t>Functions &amp;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2157984"/>
            <a:ext cx="2267712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93B"/>
                </a:solidFill>
                <a:latin typeface="Aptos"/>
              </a:rPr>
              <a:t>Organise information using reusable functions and structures.</a:t>
            </a:r>
          </a:p>
        </p:txBody>
      </p:sp>
      <p:sp>
        <p:nvSpPr>
          <p:cNvPr id="24" name="Oval 23"/>
          <p:cNvSpPr/>
          <p:nvPr/>
        </p:nvSpPr>
        <p:spPr>
          <a:xfrm>
            <a:off x="8503920" y="1691640"/>
            <a:ext cx="347472" cy="3474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1773936"/>
            <a:ext cx="3474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C3AED"/>
                </a:solidFill>
                <a:latin typeface="Aptos"/>
              </a:rPr>
              <a:t>03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1600200"/>
            <a:ext cx="265176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35440" y="1600200"/>
            <a:ext cx="73152" cy="1572768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36608" y="1746504"/>
            <a:ext cx="2286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554"/>
                </a:solidFill>
                <a:latin typeface="Aptos"/>
              </a:rPr>
              <a:t>OOP &amp; files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36608" y="2157984"/>
            <a:ext cx="2267712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93B"/>
                </a:solidFill>
                <a:latin typeface="Aptos"/>
              </a:rPr>
              <a:t>Practise classes, CSV storage and exception handling.</a:t>
            </a:r>
          </a:p>
        </p:txBody>
      </p:sp>
      <p:sp>
        <p:nvSpPr>
          <p:cNvPr id="30" name="Oval 29"/>
          <p:cNvSpPr/>
          <p:nvPr/>
        </p:nvSpPr>
        <p:spPr>
          <a:xfrm>
            <a:off x="11384280" y="1691640"/>
            <a:ext cx="347472" cy="347472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384280" y="1773936"/>
            <a:ext cx="3474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6A34A"/>
                </a:solidFill>
                <a:latin typeface="Aptos"/>
              </a:rPr>
              <a:t>04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3474720"/>
            <a:ext cx="265176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94360" y="3474720"/>
            <a:ext cx="73152" cy="1572768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" y="3621024"/>
            <a:ext cx="2286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554"/>
                </a:solidFill>
                <a:latin typeface="Aptos"/>
              </a:rPr>
              <a:t>Data 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" y="4032504"/>
            <a:ext cx="2267712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93B"/>
                </a:solidFill>
                <a:latin typeface="Aptos"/>
              </a:rPr>
              <a:t>Analyse tabular and numerical data with Pandas and NumPy.</a:t>
            </a:r>
          </a:p>
        </p:txBody>
      </p:sp>
      <p:sp>
        <p:nvSpPr>
          <p:cNvPr id="36" name="Oval 35"/>
          <p:cNvSpPr/>
          <p:nvPr/>
        </p:nvSpPr>
        <p:spPr>
          <a:xfrm>
            <a:off x="2743200" y="3566160"/>
            <a:ext cx="347472" cy="347472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0" y="3648456"/>
            <a:ext cx="3474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59E0B"/>
                </a:solidFill>
                <a:latin typeface="Aptos"/>
              </a:rPr>
              <a:t>05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74720" y="3474720"/>
            <a:ext cx="265176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474720" y="3474720"/>
            <a:ext cx="73152" cy="1572768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5887" y="3621024"/>
            <a:ext cx="2286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554"/>
                </a:solidFill>
                <a:latin typeface="Aptos"/>
              </a:rPr>
              <a:t>NLP concepts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75887" y="4032504"/>
            <a:ext cx="2267712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93B"/>
                </a:solidFill>
                <a:latin typeface="Aptos"/>
              </a:rPr>
              <a:t>Explore feedback through transparent text-processing steps.</a:t>
            </a:r>
          </a:p>
        </p:txBody>
      </p:sp>
      <p:sp>
        <p:nvSpPr>
          <p:cNvPr id="42" name="Oval 41"/>
          <p:cNvSpPr/>
          <p:nvPr/>
        </p:nvSpPr>
        <p:spPr>
          <a:xfrm>
            <a:off x="5623560" y="3566160"/>
            <a:ext cx="347472" cy="3474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23560" y="3648456"/>
            <a:ext cx="3474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C3AED"/>
                </a:solidFill>
                <a:latin typeface="Aptos"/>
              </a:rPr>
              <a:t>06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55080" y="3474720"/>
            <a:ext cx="265176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355080" y="3474720"/>
            <a:ext cx="73152" cy="157276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56248" y="3621024"/>
            <a:ext cx="2286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554"/>
                </a:solidFill>
                <a:latin typeface="Aptos"/>
              </a:rPr>
              <a:t>Integrated GUI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56248" y="4032504"/>
            <a:ext cx="2267712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93B"/>
                </a:solidFill>
                <a:latin typeface="Aptos"/>
              </a:rPr>
              <a:t>Design a connected desktop application using Tkinter.</a:t>
            </a:r>
          </a:p>
        </p:txBody>
      </p:sp>
      <p:sp>
        <p:nvSpPr>
          <p:cNvPr id="48" name="Oval 47"/>
          <p:cNvSpPr/>
          <p:nvPr/>
        </p:nvSpPr>
        <p:spPr>
          <a:xfrm>
            <a:off x="8503920" y="3566160"/>
            <a:ext cx="347472" cy="3474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03920" y="3648456"/>
            <a:ext cx="3474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ptos"/>
              </a:rPr>
              <a:t>SMART CAMPUS PBL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554"/>
                </a:solidFill>
                <a:latin typeface="Aptos"/>
              </a:rPr>
              <a:t>Proposed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61288"/>
            <a:ext cx="658368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GM UNIVERSITY  •  BCA  •  UC25CA2302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10528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Aptos"/>
              </a:rPr>
              <a:t>05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44752"/>
            <a:ext cx="5321808" cy="384048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0" y="1444752"/>
            <a:ext cx="64008" cy="38404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481328"/>
            <a:ext cx="513892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72554"/>
                </a:solidFill>
                <a:latin typeface="Aptos"/>
              </a:rPr>
              <a:t>Student &amp; campus data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1837944"/>
            <a:ext cx="0" cy="118872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29000" y="1975104"/>
            <a:ext cx="5321808" cy="384048"/>
          </a:xfrm>
          <a:prstGeom prst="roundRect">
            <a:avLst>
              <a:gd name="adj" fmla="val 12000"/>
            </a:avLst>
          </a:prstGeom>
          <a:solidFill>
            <a:srgbClr val="CF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9000" y="1975104"/>
            <a:ext cx="64008" cy="384048"/>
          </a:xfrm>
          <a:prstGeom prst="roundRect">
            <a:avLst>
              <a:gd name="adj" fmla="val 12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2011680"/>
            <a:ext cx="513892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72554"/>
                </a:solidFill>
                <a:latin typeface="Aptos"/>
              </a:rPr>
              <a:t>Input &amp; validation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2368296"/>
            <a:ext cx="0" cy="118872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29000" y="2505456"/>
            <a:ext cx="5321808" cy="384048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29000" y="2505456"/>
            <a:ext cx="64008" cy="384048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7872" y="2542032"/>
            <a:ext cx="513892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72554"/>
                </a:solidFill>
                <a:latin typeface="Aptos"/>
              </a:rPr>
              <a:t>CSV data storage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80760" y="2898648"/>
            <a:ext cx="0" cy="118872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29000" y="3035808"/>
            <a:ext cx="5321808" cy="384048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9000" y="3035808"/>
            <a:ext cx="64008" cy="384048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3072384"/>
            <a:ext cx="513892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72554"/>
                </a:solidFill>
                <a:latin typeface="Aptos"/>
              </a:rPr>
              <a:t>Python processing &amp; OOP modules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80760" y="3429000"/>
            <a:ext cx="0" cy="118872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429000" y="3566160"/>
            <a:ext cx="5321808" cy="384048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29000" y="3566160"/>
            <a:ext cx="64008" cy="384048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47872" y="3602736"/>
            <a:ext cx="513892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72554"/>
                </a:solidFill>
                <a:latin typeface="Aptos"/>
              </a:rPr>
              <a:t>Pandas &amp; NumPy analytics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80760" y="3959352"/>
            <a:ext cx="0" cy="118872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429000" y="4096512"/>
            <a:ext cx="5321808" cy="384048"/>
          </a:xfrm>
          <a:prstGeom prst="roundRect">
            <a:avLst>
              <a:gd name="adj" fmla="val 12000"/>
            </a:avLst>
          </a:prstGeom>
          <a:solidFill>
            <a:srgbClr val="CF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29000" y="4096512"/>
            <a:ext cx="64008" cy="384048"/>
          </a:xfrm>
          <a:prstGeom prst="roundRect">
            <a:avLst>
              <a:gd name="adj" fmla="val 12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47872" y="4133088"/>
            <a:ext cx="513892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72554"/>
                </a:solidFill>
                <a:latin typeface="Aptos"/>
              </a:rPr>
              <a:t>NLP feedback analysis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80760" y="4489704"/>
            <a:ext cx="0" cy="118872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429000" y="4626864"/>
            <a:ext cx="5321808" cy="384048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429000" y="4626864"/>
            <a:ext cx="64008" cy="384048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47872" y="4663440"/>
            <a:ext cx="513892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72554"/>
                </a:solidFill>
                <a:latin typeface="Aptos"/>
              </a:rPr>
              <a:t>Student risk assessment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80760" y="5020055"/>
            <a:ext cx="0" cy="118872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429000" y="5157216"/>
            <a:ext cx="5321808" cy="384048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429000" y="5157216"/>
            <a:ext cx="64008" cy="384048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47872" y="5193792"/>
            <a:ext cx="513892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72554"/>
                </a:solidFill>
                <a:latin typeface="Aptos"/>
              </a:rPr>
              <a:t>Recommendations &amp; alerts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080760" y="5550407"/>
            <a:ext cx="0" cy="118872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3429000" y="5687568"/>
            <a:ext cx="5321808" cy="384048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429000" y="5687568"/>
            <a:ext cx="64008" cy="38404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47872" y="5724144"/>
            <a:ext cx="513892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72554"/>
                </a:solidFill>
                <a:latin typeface="Aptos"/>
              </a:rPr>
              <a:t>Tkinter dashboard &amp; reports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1920240"/>
            <a:ext cx="2194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72554"/>
                </a:solidFill>
                <a:latin typeface="Aptos"/>
              </a:rPr>
              <a:t>Integrated modules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" y="2331720"/>
            <a:ext cx="2240280" cy="1828800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•  Shared student ID links records.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•  Validation protects data quality.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•  Staff review recommendations and alerts.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26080" y="6355080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Proposed architecture; implementation status must be updated by the team.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ptos"/>
              </a:rPr>
              <a:t>SMART CAMPUS PBL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554"/>
                </a:solidFill>
                <a:latin typeface="Aptos"/>
              </a:rPr>
              <a:t>Technologies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61288"/>
            <a:ext cx="658368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GM UNIVERSITY  •  BCA  •  UC25CA2302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10528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Aptos"/>
              </a:rPr>
              <a:t>06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600200"/>
            <a:ext cx="2606040" cy="1536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801368"/>
            <a:ext cx="530352" cy="53035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65960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Aptos"/>
              </a:rPr>
              <a:t>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84708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554"/>
                </a:solidFill>
                <a:latin typeface="Aptos"/>
              </a:rPr>
              <a:t>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68880"/>
            <a:ext cx="21945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93B"/>
                </a:solidFill>
                <a:latin typeface="Aptos"/>
              </a:rPr>
              <a:t>Main programming language.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600200"/>
            <a:ext cx="2606040" cy="1536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7600" y="1801368"/>
            <a:ext cx="530352" cy="530352"/>
          </a:xfrm>
          <a:prstGeom prst="ellipse">
            <a:avLst/>
          </a:prstGeom>
          <a:solidFill>
            <a:srgbClr val="CF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1965960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6B6D4"/>
                </a:solidFill>
                <a:latin typeface="Aptos"/>
              </a:rPr>
              <a:t>Tk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184708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554"/>
                </a:solidFill>
                <a:latin typeface="Aptos"/>
              </a:rPr>
              <a:t>Tkinter + ttk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8" y="2468880"/>
            <a:ext cx="21945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93B"/>
                </a:solidFill>
                <a:latin typeface="Aptos"/>
              </a:rPr>
              <a:t>Desktop graphical interface.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7648" y="1600200"/>
            <a:ext cx="2606040" cy="1536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10528" y="1801368"/>
            <a:ext cx="530352" cy="53035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1965960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ptos"/>
              </a:rPr>
              <a:t>Pd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184708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554"/>
                </a:solidFill>
                <a:latin typeface="Aptos"/>
              </a:rPr>
              <a:t>Pandas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8816" y="2468880"/>
            <a:ext cx="21945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93B"/>
                </a:solidFill>
                <a:latin typeface="Aptos"/>
              </a:rPr>
              <a:t>Tabular data processing.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0576" y="1600200"/>
            <a:ext cx="2606040" cy="1536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63455" y="1801368"/>
            <a:ext cx="530352" cy="530352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63455" y="1965960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A34A"/>
                </a:solidFill>
                <a:latin typeface="Aptos"/>
              </a:rPr>
              <a:t>Nu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21824" y="184708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554"/>
                </a:solidFill>
                <a:latin typeface="Aptos"/>
              </a:rPr>
              <a:t>NumPy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81744" y="2468880"/>
            <a:ext cx="21945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93B"/>
                </a:solidFill>
                <a:latin typeface="Aptos"/>
              </a:rPr>
              <a:t>Numerical calculations.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3474720"/>
            <a:ext cx="2606040" cy="1536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4672" y="3675887"/>
            <a:ext cx="530352" cy="530352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3840480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Mx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372160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554"/>
                </a:solidFill>
                <a:latin typeface="Aptos"/>
              </a:rPr>
              <a:t>Matplotlib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343400"/>
            <a:ext cx="21945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93B"/>
                </a:solidFill>
                <a:latin typeface="Aptos"/>
              </a:rPr>
              <a:t>Data visualisation.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74720" y="3474720"/>
            <a:ext cx="2606040" cy="1536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57600" y="3675887"/>
            <a:ext cx="530352" cy="53035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0" y="3840480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Aptos"/>
              </a:rPr>
              <a:t>CSV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15968" y="372160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554"/>
                </a:solidFill>
                <a:latin typeface="Aptos"/>
              </a:rPr>
              <a:t>CSV files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75888" y="4343400"/>
            <a:ext cx="21945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93B"/>
                </a:solidFill>
                <a:latin typeface="Aptos"/>
              </a:rPr>
              <a:t>Simple persistent file storage.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27648" y="3474720"/>
            <a:ext cx="2606040" cy="1536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510528" y="3675887"/>
            <a:ext cx="530352" cy="53035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10528" y="3840480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ptos"/>
              </a:rPr>
              <a:t>NLP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68896" y="372160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554"/>
                </a:solidFill>
                <a:latin typeface="Aptos"/>
              </a:rPr>
              <a:t>NLP techniques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8816" y="4343400"/>
            <a:ext cx="21945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93B"/>
                </a:solidFill>
                <a:latin typeface="Aptos"/>
              </a:rPr>
              <a:t>Text cleaning, tokens, keywords and sentiment.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650992"/>
            <a:ext cx="8686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Technology labels are editable text; no unofficial logos are used.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ptos"/>
              </a:rPr>
              <a:t>SMART CAMPUS PBL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554"/>
                </a:solidFill>
                <a:latin typeface="Aptos"/>
              </a:rPr>
              <a:t>Student information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61288"/>
            <a:ext cx="658368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GM UNIVERSITY  •  BCA  •  UC25CA2302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10528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Aptos"/>
              </a:rPr>
              <a:t>07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618488"/>
            <a:ext cx="3931920" cy="2423160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 Add, view, search, update and delete records.</a:t>
            </a:r>
          </a:p>
          <a:p>
            <a:pPr>
              <a:spcAft>
                <a:spcPts val="11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 Search by student ID or name.</a:t>
            </a:r>
          </a:p>
          <a:p>
            <a:pPr>
              <a:spcAft>
                <a:spcPts val="11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 Validate inputs and prevent duplicate IDs.</a:t>
            </a:r>
          </a:p>
          <a:p>
            <a:pPr>
              <a:spcAft>
                <a:spcPts val="11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 Confirm before deleting a record.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572768"/>
            <a:ext cx="6812280" cy="3566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783080"/>
            <a:ext cx="6309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59E0B"/>
                </a:solidFill>
                <a:latin typeface="Aptos"/>
              </a:rPr>
              <a:t>ILLUSTRATIVE INTERFACE DESIGN • NOT A REAL APPLICATION SCREENSHOT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65192" y="2212848"/>
            <a:ext cx="6309360" cy="411480"/>
          </a:xfrm>
          <a:prstGeom prst="roundRect">
            <a:avLst>
              <a:gd name="adj" fmla="val 12000"/>
            </a:avLst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2331720"/>
            <a:ext cx="9601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Student 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6752" y="2331720"/>
            <a:ext cx="13716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9792" y="2331720"/>
            <a:ext cx="10515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Course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331720"/>
            <a:ext cx="56692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Sem.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2331720"/>
            <a:ext cx="9875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Attendance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60152" y="2331720"/>
            <a:ext cx="7772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Marks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74336" y="2788920"/>
            <a:ext cx="6291072" cy="48463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3480" y="2935224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[ID]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16752" y="2935224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[Name]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792" y="2935224"/>
            <a:ext cx="1051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1E293B"/>
                </a:solidFill>
                <a:latin typeface="Aptos"/>
              </a:rPr>
              <a:t>BCA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935224"/>
            <a:ext cx="5669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1E293B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935224"/>
            <a:ext cx="9875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0152" y="2935224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74336" y="3401568"/>
            <a:ext cx="6291072" cy="48463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3480" y="3547872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[ID]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6752" y="3547872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[Name]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9792" y="3547872"/>
            <a:ext cx="1051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1E293B"/>
                </a:solidFill>
                <a:latin typeface="Aptos"/>
              </a:rPr>
              <a:t>BCA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3547872"/>
            <a:ext cx="5669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1E293B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3547872"/>
            <a:ext cx="9875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60152" y="3547872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74336" y="4014215"/>
            <a:ext cx="6291072" cy="48463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83480" y="4160520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[ID]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16752" y="4160520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[Name]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9792" y="4160520"/>
            <a:ext cx="1051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1E293B"/>
                </a:solidFill>
                <a:latin typeface="Aptos"/>
              </a:rPr>
              <a:t>BCA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4160520"/>
            <a:ext cx="5669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1E293B"/>
                </a:solidFill>
                <a:latin typeface="Aptos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4160520"/>
            <a:ext cx="9875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60152" y="4160520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4526280"/>
            <a:ext cx="1234440" cy="292608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8952" y="4549140"/>
            <a:ext cx="10881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Student ID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057400" y="4526280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CF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30552" y="4549140"/>
            <a:ext cx="7223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6B6D4"/>
                </a:solidFill>
                <a:latin typeface="Aptos"/>
              </a:rPr>
              <a:t>Name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063240" y="4526280"/>
            <a:ext cx="960120" cy="292608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36392" y="4549140"/>
            <a:ext cx="81381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ptos"/>
              </a:rPr>
              <a:t>Course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" y="5047488"/>
            <a:ext cx="38404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Additional fields: Semester, Email, Attendance, Marks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ptos"/>
              </a:rPr>
              <a:t>SMART CAMPUS PBL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554"/>
                </a:solidFill>
                <a:latin typeface="Aptos"/>
              </a:rPr>
              <a:t>Attendance monitoring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61288"/>
            <a:ext cx="658368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GM UNIVERSITY  •  BCA  •  UC25CA2302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10528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Aptos"/>
              </a:rPr>
              <a:t>08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481328"/>
            <a:ext cx="64008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72554"/>
                </a:solidFill>
                <a:latin typeface="Aptos"/>
              </a:rPr>
              <a:t>Attendance % = (Attended Classes / Total Classes) ×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4748B"/>
                </a:solidFill>
                <a:latin typeface="Aptos"/>
              </a:rPr>
              <a:t>Hypothetical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87168"/>
            <a:ext cx="36576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563EB"/>
                </a:solidFill>
                <a:latin typeface="Aptos"/>
              </a:rPr>
              <a:t>28 / 40 × 100 = 70%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127248"/>
            <a:ext cx="2286000" cy="292608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3150108"/>
            <a:ext cx="213969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ptos"/>
              </a:rPr>
              <a:t>BELOW 75% THRESHOLD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4572000" cy="1645920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 Record total and attended classes.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 Calculate percentage and display summaries.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 Flag records below the 75% threshold.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 Generate an attendance alert for staff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691640"/>
            <a:ext cx="4526280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1965960"/>
            <a:ext cx="3931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Aptos"/>
              </a:rPr>
              <a:t>ATTENDANCE GAUGE • HYPOTHETICAL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2423160"/>
            <a:ext cx="1874519" cy="1874519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65008" y="2670048"/>
            <a:ext cx="1380744" cy="138074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75320" y="2880360"/>
            <a:ext cx="960120" cy="9601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1" y="318211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172554"/>
                </a:solidFill>
                <a:latin typeface="Aptos"/>
              </a:rPr>
              <a:t>70%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4572000"/>
            <a:ext cx="3703320" cy="201168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903720" y="4572000"/>
            <a:ext cx="2596896" cy="20116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4873752"/>
            <a:ext cx="3703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40 total classes  •  28 attended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ptos"/>
              </a:rPr>
              <a:t>SMART CAMPUS PBL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554"/>
                </a:solidFill>
                <a:latin typeface="Aptos"/>
              </a:rPr>
              <a:t>Academic performance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61288"/>
            <a:ext cx="658368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GM UNIVERSITY  •  BCA  •  UC25CA2302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10528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Aptos"/>
              </a:rPr>
              <a:t>09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7772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Aptos"/>
              </a:rPr>
              <a:t>Illustrative marks only • project-defined categories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2560320" cy="749808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956816"/>
            <a:ext cx="2286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A34A"/>
                </a:solidFill>
                <a:latin typeface="Aptos"/>
              </a:rPr>
              <a:t>Excellent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258568"/>
            <a:ext cx="2286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72554"/>
                </a:solidFill>
                <a:latin typeface="Aptos"/>
              </a:rPr>
              <a:t>85–100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3008" y="1828800"/>
            <a:ext cx="2560320" cy="749808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1024" y="1956816"/>
            <a:ext cx="2286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Aptos"/>
              </a:rPr>
              <a:t>Good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258568"/>
            <a:ext cx="2286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72554"/>
                </a:solidFill>
                <a:latin typeface="Aptos"/>
              </a:rPr>
              <a:t>70–84.99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1828800"/>
            <a:ext cx="2560320" cy="749808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1956816"/>
            <a:ext cx="2286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59E0B"/>
                </a:solidFill>
                <a:latin typeface="Aptos"/>
              </a:rPr>
              <a:t>Average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2258568"/>
            <a:ext cx="2286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72554"/>
                </a:solidFill>
                <a:latin typeface="Aptos"/>
              </a:rPr>
              <a:t>50–69.99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62288" y="1828800"/>
            <a:ext cx="2560320" cy="749808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0304" y="1956816"/>
            <a:ext cx="2286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DC2626"/>
                </a:solidFill>
                <a:latin typeface="Aptos"/>
              </a:rPr>
              <a:t>Needs Improvement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4" y="2258568"/>
            <a:ext cx="2286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72554"/>
                </a:solidFill>
                <a:latin typeface="Aptos"/>
              </a:rPr>
              <a:t>Below 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2944368"/>
            <a:ext cx="704088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182112"/>
            <a:ext cx="6309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Aptos"/>
              </a:rPr>
              <a:t>HYPOTHETICAL SUBJECT MARKS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584448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Aptos"/>
              </a:rPr>
              <a:t>Python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31720" y="3593591"/>
            <a:ext cx="4069080" cy="146304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331720" y="3593591"/>
            <a:ext cx="3173882" cy="146304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5661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172554"/>
                </a:solidFill>
                <a:latin typeface="Aptos"/>
              </a:rPr>
              <a:t>78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977639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Aptos"/>
              </a:rPr>
              <a:t>Maths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31720" y="3986783"/>
            <a:ext cx="4069080" cy="146304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331720" y="3986783"/>
            <a:ext cx="2604211" cy="146304"/>
          </a:xfrm>
          <a:prstGeom prst="roundRect">
            <a:avLst>
              <a:gd name="adj" fmla="val 12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95935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172554"/>
                </a:solidFill>
                <a:latin typeface="Aptos"/>
              </a:rPr>
              <a:t>64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370832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Aptos"/>
              </a:rPr>
              <a:t>English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31720" y="4379976"/>
            <a:ext cx="4069080" cy="146304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331720" y="4379976"/>
            <a:ext cx="3580790" cy="146304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435254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172554"/>
                </a:solidFill>
                <a:latin typeface="Aptos"/>
              </a:rPr>
              <a:t>88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4764024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Aptos"/>
              </a:rPr>
              <a:t>DBMS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331720" y="4773168"/>
            <a:ext cx="4069080" cy="146304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331720" y="4773168"/>
            <a:ext cx="2115921" cy="146304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474573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172554"/>
                </a:solidFill>
                <a:latin typeface="Aptos"/>
              </a:rPr>
              <a:t>52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92440" y="2944368"/>
            <a:ext cx="342900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92440" y="2944368"/>
            <a:ext cx="73152" cy="242316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93608" y="3090672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554"/>
                </a:solidFill>
                <a:latin typeface="Aptos"/>
              </a:rPr>
              <a:t>Planned analysis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93608" y="3502152"/>
            <a:ext cx="3044952" cy="1764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E293B"/>
                </a:solidFill>
                <a:latin typeface="Aptos"/>
              </a:rPr>
              <a:t>Store subject marks
Calculate averages when multiple marks exist
Identify weak subjects
Suggest improvement actions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ptos"/>
              </a:rPr>
              <a:t>SMART CAMPUS PBL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554"/>
                </a:solidFill>
                <a:latin typeface="Aptos"/>
              </a:rPr>
              <a:t>Student feedback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61288"/>
            <a:ext cx="658368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GM UNIVERSITY  •  BCA  •  UC25CA2302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10528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Aptos"/>
              </a:rPr>
              <a:t>10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72768"/>
            <a:ext cx="4754880" cy="3931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28800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Aptos"/>
              </a:rPr>
              <a:t>PROPOSED FEEDBACK 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67712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Aptos"/>
              </a:rPr>
              <a:t>Student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554"/>
                </a:solidFill>
                <a:latin typeface="Aptos"/>
              </a:rPr>
              <a:t>[Enter ID]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953512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Aptos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172968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554"/>
                </a:solidFill>
                <a:latin typeface="Aptos"/>
              </a:rPr>
              <a:t>[Select date]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639312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Aptos"/>
              </a:rPr>
              <a:t>Concern category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858768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554"/>
                </a:solidFill>
                <a:latin typeface="Aptos"/>
              </a:rPr>
              <a:t>Academic / Support / Campus / General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" y="4462272"/>
            <a:ext cx="4069080" cy="62179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645152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Feedback text…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" y="5230368"/>
            <a:ext cx="1508760" cy="292608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4" y="5253228"/>
            <a:ext cx="136245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A34A"/>
                </a:solidFill>
                <a:latin typeface="Aptos"/>
              </a:rPr>
              <a:t>SAVE 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1664208"/>
            <a:ext cx="48463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2554"/>
                </a:solidFill>
                <a:latin typeface="Aptos"/>
              </a:rPr>
              <a:t>Store feedback with student ID and date; keep searchable history.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2487168"/>
            <a:ext cx="2148840" cy="694944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89320" y="2487168"/>
            <a:ext cx="64008" cy="694944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08192" y="2523744"/>
            <a:ext cx="1965960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72554"/>
                </a:solidFill>
                <a:latin typeface="Aptos"/>
              </a:rPr>
              <a:t>Academic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2487168"/>
            <a:ext cx="2148840" cy="694944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03920" y="2487168"/>
            <a:ext cx="64008" cy="694944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22792" y="2523744"/>
            <a:ext cx="1965960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72554"/>
                </a:solidFill>
                <a:latin typeface="Aptos"/>
              </a:rPr>
              <a:t>Support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3584448"/>
            <a:ext cx="2148840" cy="694944"/>
          </a:xfrm>
          <a:prstGeom prst="roundRect">
            <a:avLst>
              <a:gd name="adj" fmla="val 12000"/>
            </a:avLst>
          </a:prstGeom>
          <a:solidFill>
            <a:srgbClr val="CF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89320" y="3584448"/>
            <a:ext cx="64008" cy="694944"/>
          </a:xfrm>
          <a:prstGeom prst="roundRect">
            <a:avLst>
              <a:gd name="adj" fmla="val 12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08192" y="3621024"/>
            <a:ext cx="1965960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72554"/>
                </a:solidFill>
                <a:latin typeface="Aptos"/>
              </a:rPr>
              <a:t>Campus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03920" y="3584448"/>
            <a:ext cx="2148840" cy="694944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503920" y="3584448"/>
            <a:ext cx="64008" cy="694944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22792" y="3621024"/>
            <a:ext cx="1965960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72554"/>
                </a:solidFill>
                <a:latin typeface="Aptos"/>
              </a:rPr>
              <a:t>General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4983480"/>
            <a:ext cx="5029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Illustrative workflow; not a screenshot of a working application.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ptos"/>
              </a:rPr>
              <a:t>SMART CAMPUS PBL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554"/>
                </a:solidFill>
                <a:latin typeface="Aptos"/>
              </a:rPr>
              <a:t>NLP-based feedback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61288"/>
            <a:ext cx="658368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GM UNIVERSITY  •  BCA  •  UC25CA2302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10528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Aptos"/>
              </a:rPr>
              <a:t>11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53312"/>
            <a:ext cx="10789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ptos"/>
              </a:rPr>
              <a:t>TRANSPARENT, RULE-BASED NLP • NOT A TRAINED MODEL UNLESS IMPLEMENTED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28800"/>
            <a:ext cx="1417320" cy="585216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1828800"/>
            <a:ext cx="64008" cy="585216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65376"/>
            <a:ext cx="123444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72554"/>
                </a:solidFill>
                <a:latin typeface="Aptos"/>
              </a:rPr>
              <a:t>Clean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02536" y="2121408"/>
            <a:ext cx="164592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203704" y="1828800"/>
            <a:ext cx="1417320" cy="585216"/>
          </a:xfrm>
          <a:prstGeom prst="roundRect">
            <a:avLst>
              <a:gd name="adj" fmla="val 12000"/>
            </a:avLst>
          </a:prstGeom>
          <a:solidFill>
            <a:srgbClr val="CF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03704" y="1828800"/>
            <a:ext cx="64008" cy="585216"/>
          </a:xfrm>
          <a:prstGeom prst="roundRect">
            <a:avLst>
              <a:gd name="adj" fmla="val 12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22576" y="1865376"/>
            <a:ext cx="123444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72554"/>
                </a:solidFill>
                <a:latin typeface="Aptos"/>
              </a:rPr>
              <a:t>Lowercase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39312" y="2121408"/>
            <a:ext cx="164592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840480" y="1828800"/>
            <a:ext cx="1417320" cy="585216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40480" y="1828800"/>
            <a:ext cx="64008" cy="585216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59352" y="1865376"/>
            <a:ext cx="123444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72554"/>
                </a:solidFill>
                <a:latin typeface="Aptos"/>
              </a:rPr>
              <a:t>Tokenise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276088" y="2121408"/>
            <a:ext cx="164592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477256" y="1828800"/>
            <a:ext cx="1417320" cy="585216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77256" y="1828800"/>
            <a:ext cx="64008" cy="58521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96128" y="1865376"/>
            <a:ext cx="123444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72554"/>
                </a:solidFill>
                <a:latin typeface="Aptos"/>
              </a:rPr>
              <a:t>Find keywords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912864" y="2121408"/>
            <a:ext cx="164592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114032" y="1828800"/>
            <a:ext cx="1417320" cy="585216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114032" y="1828800"/>
            <a:ext cx="64008" cy="585216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32904" y="1865376"/>
            <a:ext cx="123444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72554"/>
                </a:solidFill>
                <a:latin typeface="Aptos"/>
              </a:rPr>
              <a:t>Classify sentiment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49640" y="2121408"/>
            <a:ext cx="164592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750807" y="1828800"/>
            <a:ext cx="1417320" cy="585216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750807" y="1828800"/>
            <a:ext cx="64008" cy="585216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0" y="1865376"/>
            <a:ext cx="123444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72554"/>
                </a:solidFill>
                <a:latin typeface="Aptos"/>
              </a:rPr>
              <a:t>Identify concern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186415" y="2121408"/>
            <a:ext cx="164592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87584" y="1828800"/>
            <a:ext cx="1417320" cy="585216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387584" y="1828800"/>
            <a:ext cx="64008" cy="585216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06456" y="1865376"/>
            <a:ext cx="123444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72554"/>
                </a:solidFill>
                <a:latin typeface="Aptos"/>
              </a:rPr>
              <a:t>Suggest action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2788920"/>
            <a:ext cx="4160520" cy="2487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3035808"/>
            <a:ext cx="35661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Aptos"/>
              </a:rPr>
              <a:t>HYPOTHETICAL FEEDBACK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3456432"/>
            <a:ext cx="3611880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2554"/>
                </a:solidFill>
                <a:latin typeface="Aptos"/>
              </a:rPr>
              <a:t>“I am struggling to understand Python and need help.”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66360" y="2788920"/>
            <a:ext cx="6309360" cy="2487168"/>
          </a:xfrm>
          <a:prstGeom prst="roundRect">
            <a:avLst>
              <a:gd name="adj" fmla="val 12000"/>
            </a:avLst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40680" y="3035808"/>
            <a:ext cx="4114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3C5FD"/>
                </a:solidFill>
                <a:latin typeface="Aptos"/>
              </a:rPr>
              <a:t>ILLUSTRATIVE ANALYSIS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40680" y="3456432"/>
            <a:ext cx="50292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Category: Academic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886200"/>
            <a:ext cx="5394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Concern: Difficulty understanding a subject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40680" y="4370832"/>
            <a:ext cx="54406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AE6FD"/>
                </a:solidFill>
                <a:latin typeface="Aptos"/>
              </a:rPr>
              <a:t>Suggested action: Faculty mentoring or academic support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40680" y="4873752"/>
            <a:ext cx="1783080" cy="292608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13832" y="4896612"/>
            <a:ext cx="163677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ptos"/>
              </a:rPr>
              <a:t>SENTIMENT: NEGATIVE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24927" y="4873752"/>
            <a:ext cx="960120" cy="292608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79" y="4896612"/>
            <a:ext cx="81381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A34A"/>
                </a:solidFill>
                <a:latin typeface="Aptos"/>
              </a:rPr>
              <a:t>POSITIVE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22208" y="4873752"/>
            <a:ext cx="960120" cy="292608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95360" y="4896612"/>
            <a:ext cx="81381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NEUTRAL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ptos"/>
              </a:rPr>
              <a:t>SMART CAMPUS PBL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554"/>
                </a:solidFill>
                <a:latin typeface="Aptos"/>
              </a:rPr>
              <a:t>AI-based student risk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61288"/>
            <a:ext cx="658368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GM UNIVERSITY  •  BCA  •  UC25CA2302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10528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Aptos"/>
              </a:rPr>
              <a:t>12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8988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4748B"/>
                </a:solidFill>
                <a:latin typeface="Aptos"/>
              </a:rPr>
              <a:t>Project-defined decision-support indicators — not definitive predictions about a student's future.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65960"/>
            <a:ext cx="2468880" cy="484632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965960"/>
            <a:ext cx="64008" cy="484632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002536"/>
            <a:ext cx="228600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72554"/>
                </a:solidFill>
                <a:latin typeface="Aptos"/>
              </a:rPr>
              <a:t>Attendance 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10128" y="2203704"/>
            <a:ext cx="1581912" cy="950976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2651760"/>
            <a:ext cx="2468880" cy="484632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2651760"/>
            <a:ext cx="64008" cy="484632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688336"/>
            <a:ext cx="228600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72554"/>
                </a:solidFill>
                <a:latin typeface="Aptos"/>
              </a:rPr>
              <a:t>Academic performance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889504"/>
            <a:ext cx="1581912" cy="265176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77240" y="3337560"/>
            <a:ext cx="2468880" cy="484632"/>
          </a:xfrm>
          <a:prstGeom prst="roundRect">
            <a:avLst>
              <a:gd name="adj" fmla="val 12000"/>
            </a:avLst>
          </a:prstGeom>
          <a:solidFill>
            <a:srgbClr val="CF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3337560"/>
            <a:ext cx="64008" cy="484632"/>
          </a:xfrm>
          <a:prstGeom prst="roundRect">
            <a:avLst>
              <a:gd name="adj" fmla="val 12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374136"/>
            <a:ext cx="228600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72554"/>
                </a:solidFill>
                <a:latin typeface="Aptos"/>
              </a:rPr>
              <a:t>Feedback sentiment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3310128" y="3154680"/>
            <a:ext cx="1581912" cy="420624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77240" y="4023360"/>
            <a:ext cx="2468880" cy="484632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023360"/>
            <a:ext cx="64008" cy="484632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059936"/>
            <a:ext cx="228600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72554"/>
                </a:solidFill>
                <a:latin typeface="Aptos"/>
              </a:rPr>
              <a:t>Repeated concerns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3310128" y="3154680"/>
            <a:ext cx="1581912" cy="1106424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937760" y="2542032"/>
            <a:ext cx="2194560" cy="1325880"/>
          </a:xfrm>
          <a:prstGeom prst="roundRect">
            <a:avLst>
              <a:gd name="adj" fmla="val 12000"/>
            </a:avLst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48072" y="2770632"/>
            <a:ext cx="1783080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DOCUMENTED
CONFIGURABLE
RULES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150608" y="3200400"/>
            <a:ext cx="82296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138160" y="1828800"/>
            <a:ext cx="2971800" cy="54864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38160" y="1828800"/>
            <a:ext cx="64008" cy="548640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57032" y="1865376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72554"/>
                </a:solidFill>
                <a:latin typeface="Aptos"/>
              </a:rPr>
              <a:t>Low Risk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2633472"/>
            <a:ext cx="2971800" cy="54864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38160" y="2633472"/>
            <a:ext cx="64008" cy="54864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57032" y="2670048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72554"/>
                </a:solidFill>
                <a:latin typeface="Aptos"/>
              </a:rPr>
              <a:t>Moderate Risk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3438144"/>
            <a:ext cx="2971800" cy="548640"/>
          </a:xfrm>
          <a:prstGeom prst="roundRect">
            <a:avLst>
              <a:gd name="adj" fmla="val 12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138160" y="3438144"/>
            <a:ext cx="64008" cy="548640"/>
          </a:xfrm>
          <a:prstGeom prst="roundRect">
            <a:avLst>
              <a:gd name="adj" fmla="val 12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57032" y="3474720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72554"/>
                </a:solidFill>
                <a:latin typeface="Aptos"/>
              </a:rPr>
              <a:t>High Risk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4242816"/>
            <a:ext cx="2971800" cy="548640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138160" y="4242816"/>
            <a:ext cx="64008" cy="548640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2" y="4279392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72554"/>
                </a:solidFill>
                <a:latin typeface="Aptos"/>
              </a:rPr>
              <a:t>Support Required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56448" y="5276088"/>
            <a:ext cx="3017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Aptos"/>
              </a:rPr>
              <a:t>Staff review is required before action.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ptos"/>
              </a:rPr>
              <a:t>SMART CAMPUS PBL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554"/>
                </a:solidFill>
                <a:latin typeface="Aptos"/>
              </a:rPr>
              <a:t>Intelligent recommendations and alerts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61288"/>
            <a:ext cx="658368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GM UNIVERSITY  •  BCA  •  UC25CA2302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10528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Aptos"/>
              </a:rPr>
              <a:t>13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508760"/>
            <a:ext cx="3886200" cy="530352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08760"/>
            <a:ext cx="64008" cy="530352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45336"/>
            <a:ext cx="3703320" cy="45719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72554"/>
                </a:solidFill>
                <a:latin typeface="Aptos"/>
              </a:rPr>
              <a:t>Low attendance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73168" y="1773936"/>
            <a:ext cx="1216152" cy="0"/>
          </a:xfrm>
          <a:prstGeom prst="line">
            <a:avLst/>
          </a:prstGeom>
          <a:ln w="2032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08192" y="1508760"/>
            <a:ext cx="4937760" cy="530352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08192" y="1508760"/>
            <a:ext cx="64008" cy="530352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7064" y="1545336"/>
            <a:ext cx="4754880" cy="45719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72554"/>
                </a:solidFill>
                <a:latin typeface="Aptos"/>
              </a:rPr>
              <a:t>Attendance counselling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2340864"/>
            <a:ext cx="3886200" cy="530352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2340864"/>
            <a:ext cx="64008" cy="530352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377440"/>
            <a:ext cx="3703320" cy="45719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72554"/>
                </a:solidFill>
                <a:latin typeface="Aptos"/>
              </a:rPr>
              <a:t>Low marks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73168" y="2606040"/>
            <a:ext cx="1216152" cy="0"/>
          </a:xfrm>
          <a:prstGeom prst="line">
            <a:avLst/>
          </a:prstGeom>
          <a:ln w="2032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08192" y="2340864"/>
            <a:ext cx="4937760" cy="530352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08192" y="2340864"/>
            <a:ext cx="64008" cy="530352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7064" y="2377440"/>
            <a:ext cx="4754880" cy="45719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72554"/>
                </a:solidFill>
                <a:latin typeface="Aptos"/>
              </a:rPr>
              <a:t>Subject-specific improvement plan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3172968"/>
            <a:ext cx="3886200" cy="530352"/>
          </a:xfrm>
          <a:prstGeom prst="roundRect">
            <a:avLst>
              <a:gd name="adj" fmla="val 12000"/>
            </a:avLst>
          </a:prstGeom>
          <a:solidFill>
            <a:srgbClr val="CF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3172968"/>
            <a:ext cx="64008" cy="530352"/>
          </a:xfrm>
          <a:prstGeom prst="roundRect">
            <a:avLst>
              <a:gd name="adj" fmla="val 12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209544"/>
            <a:ext cx="3703320" cy="45719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72554"/>
                </a:solidFill>
                <a:latin typeface="Aptos"/>
              </a:rPr>
              <a:t>Difficulty understanding a subject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773168" y="3438144"/>
            <a:ext cx="1216152" cy="0"/>
          </a:xfrm>
          <a:prstGeom prst="line">
            <a:avLst/>
          </a:prstGeom>
          <a:ln w="2032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108192" y="3172968"/>
            <a:ext cx="4937760" cy="530352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08192" y="3172968"/>
            <a:ext cx="64008" cy="530352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27064" y="3209544"/>
            <a:ext cx="4754880" cy="45719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72554"/>
                </a:solidFill>
                <a:latin typeface="Aptos"/>
              </a:rPr>
              <a:t>Faculty mentoring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" y="4005072"/>
            <a:ext cx="3886200" cy="530352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41248" y="4005072"/>
            <a:ext cx="64008" cy="530352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4041648"/>
            <a:ext cx="3703320" cy="45719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72554"/>
                </a:solidFill>
                <a:latin typeface="Aptos"/>
              </a:rPr>
              <a:t>Repeated campus complaints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773168" y="4270248"/>
            <a:ext cx="1216152" cy="0"/>
          </a:xfrm>
          <a:prstGeom prst="line">
            <a:avLst/>
          </a:prstGeom>
          <a:ln w="2032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108192" y="4005072"/>
            <a:ext cx="4937760" cy="530352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08192" y="4005072"/>
            <a:ext cx="64008" cy="530352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7064" y="4041648"/>
            <a:ext cx="4754880" cy="45719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72554"/>
                </a:solidFill>
                <a:latin typeface="Aptos"/>
              </a:rPr>
              <a:t>Review the reported concern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" y="4837176"/>
            <a:ext cx="3886200" cy="530352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41248" y="4837176"/>
            <a:ext cx="64008" cy="530352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4873752"/>
            <a:ext cx="3703320" cy="45719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72554"/>
                </a:solidFill>
                <a:latin typeface="Aptos"/>
              </a:rPr>
              <a:t>Multiple concerns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773168" y="5102352"/>
            <a:ext cx="1216152" cy="0"/>
          </a:xfrm>
          <a:prstGeom prst="line">
            <a:avLst/>
          </a:prstGeom>
          <a:ln w="2032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108192" y="4837176"/>
            <a:ext cx="4937760" cy="530352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108192" y="4837176"/>
            <a:ext cx="64008" cy="530352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7064" y="4873752"/>
            <a:ext cx="4754880" cy="45719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72554"/>
                </a:solidFill>
                <a:latin typeface="Aptos"/>
              </a:rPr>
              <a:t>Personalised student support review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5806440"/>
            <a:ext cx="10332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72554"/>
                </a:solidFill>
                <a:latin typeface="Aptos"/>
              </a:rPr>
              <a:t>Alerts highlight items that may need attention; staff assess context and decide next steps.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ptos"/>
              </a:rPr>
              <a:t>SMART CAMPUS PBL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554"/>
                </a:solidFill>
                <a:latin typeface="Aptos"/>
              </a:rPr>
              <a:t>Data analytics and visualisation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61288"/>
            <a:ext cx="658368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GM UNIVERSITY  •  BCA  •  UC25CA2302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10528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Aptos"/>
              </a:rPr>
              <a:t>14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71600"/>
            <a:ext cx="96012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4748B"/>
                </a:solidFill>
                <a:latin typeface="Aptos"/>
              </a:rPr>
              <a:t>Illustrative dashboard concepts • sample values are hypothetical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83080"/>
            <a:ext cx="17373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148132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Aptos"/>
              </a:rPr>
              <a:t>Avg attendance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14813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2563EB"/>
                </a:solidFill>
                <a:latin typeface="Aptos"/>
              </a:rPr>
              <a:t>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8608" y="1783080"/>
            <a:ext cx="17373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1920240"/>
            <a:ext cx="148132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Aptos"/>
              </a:rPr>
              <a:t>Avg marks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194560"/>
            <a:ext cx="14813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7C3AED"/>
                </a:solidFill>
                <a:latin typeface="Aptos"/>
              </a:rPr>
              <a:t>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98848" y="1783080"/>
            <a:ext cx="17373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1920240"/>
            <a:ext cx="148132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Aptos"/>
              </a:rPr>
              <a:t>Risk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194560"/>
            <a:ext cx="14813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59E0B"/>
                </a:solidFill>
                <a:latin typeface="Aptos"/>
              </a:rPr>
              <a:t>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880360"/>
            <a:ext cx="484632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108960"/>
            <a:ext cx="4297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Aptos"/>
              </a:rPr>
              <a:t>HYPOTHETICAL SENTIMENT MIX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66160"/>
            <a:ext cx="1143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Aptos"/>
              </a:rPr>
              <a:t>Positive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48840" y="3584448"/>
            <a:ext cx="2560320" cy="146304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148840" y="3584448"/>
            <a:ext cx="1152143" cy="146304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3566160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Aptos"/>
              </a:rPr>
              <a:t>45%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041648"/>
            <a:ext cx="1143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Aptos"/>
              </a:rPr>
              <a:t>Neutral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48840" y="4059935"/>
            <a:ext cx="2560320" cy="146304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148840" y="4059935"/>
            <a:ext cx="768096" cy="146304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404164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Aptos"/>
              </a:rPr>
              <a:t>30%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517136"/>
            <a:ext cx="1143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Aptos"/>
              </a:rPr>
              <a:t>Negative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48840" y="4535423"/>
            <a:ext cx="2560320" cy="146304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148840" y="4535423"/>
            <a:ext cx="640080" cy="146304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4517136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Aptos"/>
              </a:rPr>
              <a:t>25%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52160" y="1783080"/>
            <a:ext cx="2560320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852160" y="1783080"/>
            <a:ext cx="73152" cy="148132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53328" y="1929384"/>
            <a:ext cx="21945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554"/>
                </a:solidFill>
                <a:latin typeface="Aptos"/>
              </a:rPr>
              <a:t>Pandas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53328" y="2340864"/>
            <a:ext cx="2176272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93B"/>
                </a:solidFill>
                <a:latin typeface="Aptos"/>
              </a:rPr>
              <a:t>Tabular summaries and grouping.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32520" y="1783080"/>
            <a:ext cx="2560320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732520" y="1783080"/>
            <a:ext cx="73152" cy="1481328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33688" y="1929384"/>
            <a:ext cx="21945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554"/>
                </a:solidFill>
                <a:latin typeface="Aptos"/>
              </a:rPr>
              <a:t>NumPy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33688" y="2340864"/>
            <a:ext cx="2176272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93B"/>
                </a:solidFill>
                <a:latin typeface="Aptos"/>
              </a:rPr>
              <a:t>Numerical calculations.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52160" y="3520440"/>
            <a:ext cx="2560320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852160" y="3520440"/>
            <a:ext cx="73152" cy="1481328"/>
          </a:xfrm>
          <a:prstGeom prst="roundRect">
            <a:avLst>
              <a:gd name="adj" fmla="val 12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53328" y="3666744"/>
            <a:ext cx="21945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554"/>
                </a:solidFill>
                <a:latin typeface="Aptos"/>
              </a:rPr>
              <a:t>Matplotlib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53328" y="4078224"/>
            <a:ext cx="2176272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93B"/>
                </a:solidFill>
                <a:latin typeface="Aptos"/>
              </a:rPr>
              <a:t>Charts for patterns and distribution.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732520" y="3520440"/>
            <a:ext cx="2560320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732520" y="3520440"/>
            <a:ext cx="73152" cy="1481328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33688" y="3666744"/>
            <a:ext cx="21945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554"/>
                </a:solidFill>
                <a:latin typeface="Aptos"/>
              </a:rPr>
              <a:t>Planned views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33688" y="4078224"/>
            <a:ext cx="2176272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Aptos"/>
              </a:rPr>
              <a:t>Attendance, marks, risk, sentiment and frequent concerns.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5623560"/>
            <a:ext cx="7498079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Charts are editable shapes; no actual project data is represented.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ptos"/>
              </a:rPr>
              <a:t>SMART CAMPUS PBL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554"/>
                </a:solidFill>
                <a:latin typeface="Aptos"/>
              </a:rPr>
              <a:t>Data storage and file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61288"/>
            <a:ext cx="658368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GM UNIVERSITY  •  BCA  •  UC25CA2302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10528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Aptos"/>
              </a:rPr>
              <a:t>15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240280"/>
            <a:ext cx="2743200" cy="1371600"/>
          </a:xfrm>
          <a:prstGeom prst="roundRect">
            <a:avLst>
              <a:gd name="adj" fmla="val 12000"/>
            </a:avLst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578608"/>
            <a:ext cx="2103120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PYTHON
APPLICATION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783080"/>
            <a:ext cx="2057400" cy="621792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64008" cy="621792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1819656"/>
            <a:ext cx="1874519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72554"/>
                </a:solidFill>
                <a:latin typeface="Aptos"/>
              </a:rPr>
              <a:t>students.csv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3493008" y="2093976"/>
            <a:ext cx="1078992" cy="832104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885431" y="1783080"/>
            <a:ext cx="2057400" cy="621792"/>
          </a:xfrm>
          <a:prstGeom prst="roundRect">
            <a:avLst>
              <a:gd name="adj" fmla="val 12000"/>
            </a:avLst>
          </a:prstGeom>
          <a:solidFill>
            <a:srgbClr val="CF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85431" y="1783080"/>
            <a:ext cx="64008" cy="621792"/>
          </a:xfrm>
          <a:prstGeom prst="roundRect">
            <a:avLst>
              <a:gd name="adj" fmla="val 12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04303" y="1819656"/>
            <a:ext cx="1874519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72554"/>
                </a:solidFill>
                <a:latin typeface="Aptos"/>
              </a:rPr>
              <a:t>attendance.csv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3493008" y="2093976"/>
            <a:ext cx="3392423" cy="832104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98863" y="1783080"/>
            <a:ext cx="2057400" cy="621792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98863" y="1783080"/>
            <a:ext cx="64008" cy="621792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17736" y="1819656"/>
            <a:ext cx="1874519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72554"/>
                </a:solidFill>
                <a:latin typeface="Aptos"/>
              </a:rPr>
              <a:t>marks.csv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3493008" y="2093976"/>
            <a:ext cx="5705855" cy="832104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572000" y="3291839"/>
            <a:ext cx="2057400" cy="621792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0" y="3291839"/>
            <a:ext cx="64008" cy="621792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90872" y="3328415"/>
            <a:ext cx="1874519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72554"/>
                </a:solidFill>
                <a:latin typeface="Aptos"/>
              </a:rPr>
              <a:t>feedback.csv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493008" y="2926080"/>
            <a:ext cx="1078992" cy="676655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885431" y="3291839"/>
            <a:ext cx="2057400" cy="621792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85431" y="3291839"/>
            <a:ext cx="64008" cy="621792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04303" y="3328415"/>
            <a:ext cx="1874519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72554"/>
                </a:solidFill>
                <a:latin typeface="Aptos"/>
              </a:rPr>
              <a:t>risk_analysis.csv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493008" y="2926080"/>
            <a:ext cx="3392423" cy="676655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198863" y="3291839"/>
            <a:ext cx="2057400" cy="621792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198863" y="3291839"/>
            <a:ext cx="64008" cy="621792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17736" y="3328415"/>
            <a:ext cx="1874519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72554"/>
                </a:solidFill>
                <a:latin typeface="Aptos"/>
              </a:rPr>
              <a:t>recommendations.csv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493008" y="2926080"/>
            <a:ext cx="5705855" cy="676655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49808" y="4160520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72554"/>
                </a:solidFill>
                <a:latin typeface="Aptos"/>
              </a:rPr>
              <a:t>Storage workflow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4526280"/>
            <a:ext cx="10515600" cy="1234440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 Load saved information and save new or updated records.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 Handle missing files and empty feedback.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 Validate types and incorrect data; protect existing data.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ptos"/>
              </a:rPr>
              <a:t>SMART CAMPUS PBL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554"/>
                </a:solidFill>
                <a:latin typeface="Aptos"/>
              </a:rPr>
              <a:t>Graphical user interface and login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61288"/>
            <a:ext cx="658368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GM UNIVERSITY  •  BCA  •  UC25CA2302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10528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Aptos"/>
              </a:rPr>
              <a:t>16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44168"/>
            <a:ext cx="10789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PROPOSED WIREFRAMES • NOT WORKING-APPLICATION SCREENSHOTS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19072"/>
            <a:ext cx="2743200" cy="3703320"/>
          </a:xfrm>
          <a:prstGeom prst="roundRect">
            <a:avLst>
              <a:gd name="adj" fmla="val 12000"/>
            </a:avLst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57400"/>
            <a:ext cx="21488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CAMPUS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560320"/>
            <a:ext cx="21031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BAE6FD"/>
                </a:solidFill>
                <a:latin typeface="Aptos"/>
              </a:rPr>
              <a:t>Login concept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3090672"/>
            <a:ext cx="214884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218688"/>
            <a:ext cx="1737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[Username]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3794760"/>
            <a:ext cx="214884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922776"/>
            <a:ext cx="1737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[Password]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" y="4526280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663440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Sign 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166360"/>
            <a:ext cx="22402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CBD5E1"/>
                </a:solidFill>
                <a:latin typeface="Aptos"/>
              </a:rPr>
              <a:t>Demo credentials are not specified here because no implemented app was provided.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67328" y="1719072"/>
            <a:ext cx="7726679" cy="3703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767328" y="1719072"/>
            <a:ext cx="1463040" cy="3703320"/>
          </a:xfrm>
          <a:prstGeom prst="roundRect">
            <a:avLst>
              <a:gd name="adj" fmla="val 12000"/>
            </a:avLst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05072" y="2011680"/>
            <a:ext cx="9601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93C5FD"/>
                </a:solidFill>
                <a:latin typeface="Aptos"/>
              </a:rPr>
              <a:t>MENU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0208" y="2450592"/>
            <a:ext cx="11155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Home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50208" y="2843784"/>
            <a:ext cx="11155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ptos"/>
              </a:rPr>
              <a:t>Students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0208" y="3236976"/>
            <a:ext cx="11155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ptos"/>
              </a:rPr>
              <a:t>Attendance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0208" y="3630168"/>
            <a:ext cx="11155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ptos"/>
              </a:rPr>
              <a:t>Academics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50208" y="4023360"/>
            <a:ext cx="11155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ptos"/>
              </a:rPr>
              <a:t>Feedback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50208" y="4416552"/>
            <a:ext cx="11155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ptos"/>
              </a:rPr>
              <a:t>Reports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68112" y="1965960"/>
            <a:ext cx="5394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72554"/>
                </a:solidFill>
                <a:latin typeface="Aptos"/>
              </a:rPr>
              <a:t>Dashboard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68112" y="2514600"/>
            <a:ext cx="1627632" cy="73152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41264" y="2670048"/>
            <a:ext cx="148132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Students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41264" y="2926080"/>
            <a:ext cx="148132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Planned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2514600"/>
            <a:ext cx="1627632" cy="731520"/>
          </a:xfrm>
          <a:prstGeom prst="roundRect">
            <a:avLst>
              <a:gd name="adj" fmla="val 12000"/>
            </a:avLst>
          </a:prstGeom>
          <a:solidFill>
            <a:srgbClr val="CF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88352" y="2670048"/>
            <a:ext cx="148132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6B6D4"/>
                </a:solidFill>
                <a:latin typeface="Aptos"/>
              </a:rPr>
              <a:t>Attendance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2" y="2926080"/>
            <a:ext cx="148132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Planned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62288" y="2514600"/>
            <a:ext cx="1627632" cy="73152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2670048"/>
            <a:ext cx="148132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Support 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2926080"/>
            <a:ext cx="148132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Planned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68112" y="3566160"/>
            <a:ext cx="5468112" cy="132588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5000" y="3867912"/>
            <a:ext cx="4983480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E293B"/>
                </a:solidFill>
                <a:latin typeface="Aptos"/>
              </a:rPr>
              <a:t>Proposed screens: Student management • Attendance &amp; marks • Feedback/NLP • Risk • Recommendations • Reports • Logout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ptos"/>
              </a:rPr>
              <a:t>SMART CAMPUS PBL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554"/>
                </a:solidFill>
                <a:latin typeface="Aptos"/>
              </a:rPr>
              <a:t>Testing and exception handling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61288"/>
            <a:ext cx="658368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GM UNIVERSITY  •  BCA  •  UC25CA2302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10528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Aptos"/>
              </a:rPr>
              <a:t>17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90472"/>
            <a:ext cx="1074420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1600200"/>
            <a:ext cx="210312" cy="2103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07592" y="1600200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72554"/>
                </a:solidFill>
                <a:latin typeface="Aptos"/>
              </a:rPr>
              <a:t>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600200"/>
            <a:ext cx="7269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93B"/>
                </a:solidFill>
                <a:latin typeface="Aptos"/>
              </a:rPr>
              <a:t>Valid / invalid login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057400"/>
            <a:ext cx="1074420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2688" y="2167128"/>
            <a:ext cx="210312" cy="21031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07592" y="2167128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72554"/>
                </a:solidFill>
                <a:latin typeface="Aptos"/>
              </a:rPr>
              <a:t>Student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167128"/>
            <a:ext cx="7269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93B"/>
                </a:solidFill>
                <a:latin typeface="Aptos"/>
              </a:rPr>
              <a:t>Duplicate IDs • incorrect data types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624328"/>
            <a:ext cx="1074420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2688" y="2734056"/>
            <a:ext cx="210312" cy="2103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07592" y="2734056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72554"/>
                </a:solidFill>
                <a:latin typeface="Aptos"/>
              </a:rPr>
              <a:t>Marks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734056"/>
            <a:ext cx="7269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93B"/>
                </a:solidFill>
                <a:latin typeface="Aptos"/>
              </a:rPr>
              <a:t>Invalid marks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191256"/>
            <a:ext cx="1074420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2688" y="3300984"/>
            <a:ext cx="210312" cy="2103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07592" y="3300984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72554"/>
                </a:solidFill>
                <a:latin typeface="Aptos"/>
              </a:rPr>
              <a:t>Attendance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3300984"/>
            <a:ext cx="7269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93B"/>
                </a:solidFill>
                <a:latin typeface="Aptos"/>
              </a:rPr>
              <a:t>Zero total classes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758183"/>
            <a:ext cx="1074420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3867911"/>
            <a:ext cx="210312" cy="21031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07592" y="3867911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72554"/>
                </a:solidFill>
                <a:latin typeface="Aptos"/>
              </a:rPr>
              <a:t>CSV files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3867911"/>
            <a:ext cx="7269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93B"/>
                </a:solidFill>
                <a:latin typeface="Aptos"/>
              </a:rPr>
              <a:t>Missing files • save/load records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325112"/>
            <a:ext cx="1074420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32688" y="4434840"/>
            <a:ext cx="210312" cy="21031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07592" y="4434840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72554"/>
                </a:solidFill>
                <a:latin typeface="Aptos"/>
              </a:rPr>
              <a:t>Feedback + NLP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4434840"/>
            <a:ext cx="7269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93B"/>
                </a:solidFill>
                <a:latin typeface="Aptos"/>
              </a:rPr>
              <a:t>Empty text • category / sentiment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892040"/>
            <a:ext cx="1074420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2688" y="5001768"/>
            <a:ext cx="210312" cy="210312"/>
          </a:xfrm>
          <a:prstGeom prst="ellipse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07592" y="5001768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72554"/>
                </a:solidFill>
                <a:latin typeface="Aptos"/>
              </a:rPr>
              <a:t>Risk rules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03320" y="5001768"/>
            <a:ext cx="7269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93B"/>
                </a:solidFill>
                <a:latin typeface="Aptos"/>
              </a:rPr>
              <a:t>Risk classification cases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5715000"/>
            <a:ext cx="8229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Planned test cases — no test results are claimed.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6016752"/>
            <a:ext cx="8961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Show clear error messages and protect existing data.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ptos"/>
              </a:rPr>
              <a:t>SMART CAMPUS PBL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554"/>
                </a:solidFill>
                <a:latin typeface="Aptos"/>
              </a:rPr>
              <a:t>Expected outcomes and 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61288"/>
            <a:ext cx="658368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GM UNIVERSITY  •  BCA  •  UC25CA2302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10528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Aptos"/>
              </a:rPr>
              <a:t>18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5257800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45352" y="1600200"/>
            <a:ext cx="5257800" cy="4251960"/>
          </a:xfrm>
          <a:prstGeom prst="roundRect">
            <a:avLst>
              <a:gd name="adj" fmla="val 12000"/>
            </a:avLst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1874519"/>
            <a:ext cx="2011680" cy="292608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1897379"/>
            <a:ext cx="186537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A34A"/>
                </a:solidFill>
                <a:latin typeface="Aptos"/>
              </a:rPr>
              <a:t>EXPECTED OUTCOMES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423160"/>
            <a:ext cx="4526280" cy="2606040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 Centralised student information management.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 Faster attendance calculations.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 Easier academic monitoring and structured feedback analysis.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 Explainable recommendations and clear analytical reports.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1874519"/>
            <a:ext cx="1600200" cy="292608"/>
          </a:xfrm>
          <a:prstGeom prst="roundRect">
            <a:avLst>
              <a:gd name="adj" fmla="val 12000"/>
            </a:avLst>
          </a:prstGeom>
          <a:solidFill>
            <a:srgbClr val="CF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1897379"/>
            <a:ext cx="145389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6B6D4"/>
                </a:solidFill>
                <a:latin typeface="Aptos"/>
              </a:rPr>
              <a:t>FUTURE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423160"/>
            <a:ext cx="4480560" cy="2606040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Advanced NLP models.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Web or mobile access and database integration.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Role-based access control and historical trends.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Integration with approved campus information systems.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94960"/>
            <a:ext cx="10332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748B"/>
                </a:solidFill>
                <a:latin typeface="Aptos"/>
              </a:rPr>
              <a:t>Expected outcomes and future enhancements are not claims of completed functionality.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ptos"/>
              </a:rPr>
              <a:t>SMART CAMPUS PBL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554"/>
                </a:solidFill>
                <a:latin typeface="Aptos"/>
              </a:rPr>
              <a:t>Team contribution and project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61288"/>
            <a:ext cx="658368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GM UNIVERSITY  •  BCA  •  UC25CA2302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10528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Aptos"/>
              </a:rPr>
              <a:t>19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44752"/>
            <a:ext cx="534924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444752"/>
            <a:ext cx="73152" cy="59436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591056"/>
            <a:ext cx="498347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72554"/>
                </a:solidFill>
                <a:latin typeface="Aptos"/>
              </a:rPr>
              <a:t>Student 1 • Python Developer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002536"/>
            <a:ext cx="4965192" cy="-640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E293B"/>
                </a:solidFill>
                <a:latin typeface="Aptos"/>
              </a:rPr>
              <a:t>Student management, control structures, data structures and functions.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148840"/>
            <a:ext cx="534924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2148840"/>
            <a:ext cx="73152" cy="594360"/>
          </a:xfrm>
          <a:prstGeom prst="roundRect">
            <a:avLst>
              <a:gd name="adj" fmla="val 12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2295144"/>
            <a:ext cx="498347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72554"/>
                </a:solidFill>
                <a:latin typeface="Aptos"/>
              </a:rPr>
              <a:t>Student 2 • System Developer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2706624"/>
            <a:ext cx="4965192" cy="-640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E293B"/>
                </a:solidFill>
                <a:latin typeface="Aptos"/>
              </a:rPr>
              <a:t>OOP-based attendance and academic performance modules.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852928"/>
            <a:ext cx="534924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2852928"/>
            <a:ext cx="73152" cy="59436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2999232"/>
            <a:ext cx="498347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72554"/>
                </a:solidFill>
                <a:latin typeface="Aptos"/>
              </a:rPr>
              <a:t>Student 3 • Data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410712"/>
            <a:ext cx="4965192" cy="-640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E293B"/>
                </a:solidFill>
                <a:latin typeface="Aptos"/>
              </a:rPr>
              <a:t>File handling, exceptions, Pandas, NumPy and analysis.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57016"/>
            <a:ext cx="534924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3557016"/>
            <a:ext cx="73152" cy="59436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3703320"/>
            <a:ext cx="498347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72554"/>
                </a:solidFill>
                <a:latin typeface="Aptos"/>
              </a:rPr>
              <a:t>Student 4 • AI &amp; GUI Developer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4114800"/>
            <a:ext cx="4965192" cy="-640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E293B"/>
                </a:solidFill>
                <a:latin typeface="Aptos"/>
              </a:rPr>
              <a:t>NLP, risk rules, recommendations, Tkinter, testing and integration.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416552"/>
            <a:ext cx="5166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Aptos"/>
              </a:rPr>
              <a:t>Team must replace role descriptions with actual names and contributions.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481328"/>
            <a:ext cx="4389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Aptos"/>
              </a:rPr>
              <a:t>14-WEEK PLAN</a:t>
            </a:r>
          </a:p>
        </p:txBody>
      </p:sp>
      <p:sp>
        <p:nvSpPr>
          <p:cNvPr id="26" name="Oval 25"/>
          <p:cNvSpPr/>
          <p:nvPr/>
        </p:nvSpPr>
        <p:spPr>
          <a:xfrm>
            <a:off x="6473952" y="1947672"/>
            <a:ext cx="182880" cy="1828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6565392" y="2139696"/>
            <a:ext cx="0" cy="310896"/>
          </a:xfrm>
          <a:prstGeom prst="line">
            <a:avLst/>
          </a:prstGeom>
          <a:ln w="203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839712" y="1901952"/>
            <a:ext cx="1143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72554"/>
                </a:solidFill>
                <a:latin typeface="Aptos"/>
              </a:rPr>
              <a:t>W1–2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1901952"/>
            <a:ext cx="2926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Aptos"/>
              </a:rPr>
              <a:t>Problem &amp; team</a:t>
            </a:r>
          </a:p>
        </p:txBody>
      </p:sp>
      <p:sp>
        <p:nvSpPr>
          <p:cNvPr id="30" name="Oval 29"/>
          <p:cNvSpPr/>
          <p:nvPr/>
        </p:nvSpPr>
        <p:spPr>
          <a:xfrm>
            <a:off x="6473952" y="2450591"/>
            <a:ext cx="182880" cy="1828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6565392" y="2642615"/>
            <a:ext cx="0" cy="310897"/>
          </a:xfrm>
          <a:prstGeom prst="line">
            <a:avLst/>
          </a:prstGeom>
          <a:ln w="203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39712" y="2404872"/>
            <a:ext cx="1143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72554"/>
                </a:solidFill>
                <a:latin typeface="Aptos"/>
              </a:rPr>
              <a:t>W3–4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2404872"/>
            <a:ext cx="2926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Aptos"/>
              </a:rPr>
              <a:t>Proposal</a:t>
            </a:r>
          </a:p>
        </p:txBody>
      </p:sp>
      <p:sp>
        <p:nvSpPr>
          <p:cNvPr id="34" name="Oval 33"/>
          <p:cNvSpPr/>
          <p:nvPr/>
        </p:nvSpPr>
        <p:spPr>
          <a:xfrm>
            <a:off x="6473952" y="2953512"/>
            <a:ext cx="182880" cy="1828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6565392" y="3145536"/>
            <a:ext cx="0" cy="310896"/>
          </a:xfrm>
          <a:prstGeom prst="line">
            <a:avLst/>
          </a:prstGeom>
          <a:ln w="203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839712" y="2907792"/>
            <a:ext cx="1143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72554"/>
                </a:solidFill>
                <a:latin typeface="Aptos"/>
              </a:rPr>
              <a:t>W5–6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2907792"/>
            <a:ext cx="2926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Aptos"/>
              </a:rPr>
              <a:t>Design</a:t>
            </a:r>
          </a:p>
        </p:txBody>
      </p:sp>
      <p:sp>
        <p:nvSpPr>
          <p:cNvPr id="38" name="Oval 37"/>
          <p:cNvSpPr/>
          <p:nvPr/>
        </p:nvSpPr>
        <p:spPr>
          <a:xfrm>
            <a:off x="6473952" y="3456432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6565392" y="3648456"/>
            <a:ext cx="0" cy="310896"/>
          </a:xfrm>
          <a:prstGeom prst="line">
            <a:avLst/>
          </a:prstGeom>
          <a:ln w="203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839712" y="3410712"/>
            <a:ext cx="1143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72554"/>
                </a:solidFill>
                <a:latin typeface="Aptos"/>
              </a:rPr>
              <a:t>W7–10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3410712"/>
            <a:ext cx="2926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Aptos"/>
              </a:rPr>
              <a:t>Development</a:t>
            </a:r>
          </a:p>
        </p:txBody>
      </p:sp>
      <p:sp>
        <p:nvSpPr>
          <p:cNvPr id="42" name="Oval 41"/>
          <p:cNvSpPr/>
          <p:nvPr/>
        </p:nvSpPr>
        <p:spPr>
          <a:xfrm>
            <a:off x="6473952" y="3959352"/>
            <a:ext cx="182880" cy="1828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6565392" y="4151376"/>
            <a:ext cx="0" cy="310896"/>
          </a:xfrm>
          <a:prstGeom prst="line">
            <a:avLst/>
          </a:prstGeom>
          <a:ln w="203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839712" y="3913632"/>
            <a:ext cx="1143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72554"/>
                </a:solidFill>
                <a:latin typeface="Aptos"/>
              </a:rPr>
              <a:t>W11–12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3913632"/>
            <a:ext cx="2926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Aptos"/>
              </a:rPr>
              <a:t>Testing</a:t>
            </a:r>
          </a:p>
        </p:txBody>
      </p:sp>
      <p:sp>
        <p:nvSpPr>
          <p:cNvPr id="46" name="Oval 45"/>
          <p:cNvSpPr/>
          <p:nvPr/>
        </p:nvSpPr>
        <p:spPr>
          <a:xfrm>
            <a:off x="6473952" y="4462272"/>
            <a:ext cx="182880" cy="1828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6565392" y="4654296"/>
            <a:ext cx="0" cy="310896"/>
          </a:xfrm>
          <a:prstGeom prst="line">
            <a:avLst/>
          </a:prstGeom>
          <a:ln w="203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839712" y="4416552"/>
            <a:ext cx="1143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72554"/>
                </a:solidFill>
                <a:latin typeface="Aptos"/>
              </a:rPr>
              <a:t>W13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20" y="4416552"/>
            <a:ext cx="2926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Aptos"/>
              </a:rPr>
              <a:t>Integration</a:t>
            </a:r>
          </a:p>
        </p:txBody>
      </p:sp>
      <p:sp>
        <p:nvSpPr>
          <p:cNvPr id="50" name="Oval 49"/>
          <p:cNvSpPr/>
          <p:nvPr/>
        </p:nvSpPr>
        <p:spPr>
          <a:xfrm>
            <a:off x="6473952" y="4965192"/>
            <a:ext cx="182880" cy="182880"/>
          </a:xfrm>
          <a:prstGeom prst="ellipse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39712" y="4919472"/>
            <a:ext cx="1143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72554"/>
                </a:solidFill>
                <a:latin typeface="Aptos"/>
              </a:rPr>
              <a:t>W14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20" y="4919472"/>
            <a:ext cx="2926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Aptos"/>
              </a:rPr>
              <a:t>Demo &amp; submit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5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55480" y="1143000"/>
            <a:ext cx="182880" cy="1828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44200" y="1874519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23960" y="2743200"/>
            <a:ext cx="164592" cy="16459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3657600"/>
            <a:ext cx="182880" cy="1828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46920" y="4800600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9646920" y="1234440"/>
            <a:ext cx="1170432" cy="713232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8906256" y="1947672"/>
            <a:ext cx="1911096" cy="868680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906256" y="2816352"/>
            <a:ext cx="2157984" cy="932687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9720072" y="3749039"/>
            <a:ext cx="1344168" cy="1115569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85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3C5FD"/>
                </a:solidFill>
                <a:latin typeface="Aptos"/>
              </a:rP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143000"/>
            <a:ext cx="7680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Aptos"/>
              </a:rPr>
              <a:t>A practical Python learning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194560"/>
            <a:ext cx="7498079" cy="2057400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Combines Python, OOP, file handling, analytics, NLP and a GUI.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Designed to support campus monitoring and staff-reviewed support decisions.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An educational prototype for applying programming to a real-world-inspired problem.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681728"/>
            <a:ext cx="54864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5010912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BAE6FD"/>
                </a:solidFill>
                <a:latin typeface="Aptos"/>
              </a:rP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57784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Questions and Answers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5641848"/>
            <a:ext cx="4206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CBD5E1"/>
                </a:solidFill>
                <a:latin typeface="Aptos"/>
              </a:rPr>
              <a:t>Team: [Add names]     Faculty guide: [Add name]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6537960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CBD5E1"/>
                </a:solidFill>
                <a:latin typeface="Aptos"/>
              </a:rPr>
              <a:t>GM UNIVERSITY  •  BCA  •  UC25CA2302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1672" y="6510528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CBD5E1"/>
                </a:solidFill>
                <a:latin typeface="Aptos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AI-Enabled Smart Campus Monitoring and Intelligent Student Support System</dc:title>
  <dc:subject>GM University BCA Semester 3 Python PBL</dc:subject>
  <dc:creator>GM University BCA PBL Team</dc:creator>
  <cp:keywords>Python, Smart Campus, NLP, Data Analytics, PBL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